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notesSlides/notesSlide1.xml" Type="http://schemas.openxmlformats.org/officeDocument/2006/relationships/notesSlide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35" Target="notesSlides/notesSlide13.xml" Type="http://schemas.openxmlformats.org/officeDocument/2006/relationships/notesSlide"/><Relationship Id="rId36" Target="notesSlides/notesSlide14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这是解依赖专题。前一份 PPT 讲了两套调度实现的整体差异，这份专门钻进去看"任务完成后怎么把后继任务解放出来"这一段。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核心问题是标准的 DAG 前置计数：每个任务维护一个前驱计数器，前驱全跑完才就绪。两套实现分别用了多 painter 分片并行、和单线程原子加亲和入队两种思路。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解依赖的问题本身不复杂：标准的 DAG 前置计数。每个任务维护一个计数器，等于它还在等几个前驱。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左边这个小 DAG，A 和 B 没有前驱一开始就可以跑；C 要等 A 和 B 两个；E 只等 A；D 等 C。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代码里三件套：CSR 格式的边表、每个任务一个 pre_cnt、以及"减到 0 就入队"这个判定规则。两套实现的差别全在"谁来减、怎么减、减完放哪"。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这是两种实现最根本的分歧点：边表怎么放。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src/ 把整张 DAG 切成多个子图，每个 painter 一份边表副本和一份 pre_cnt。这样计数器是普通 int，不需要原子指令，painter 之间零竞争——代价是内存冗余 N 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src2/ 反过来，整张 DAG 只存一份边表，pre_cnt 用 _Atomic。代价是每次减一都走原子指令，但省内存，而且单线程 scheduler 下这个原子其实是防御性的。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启动阶段 init_queue 不是一股脑全入 ready 队列，而是按 pre_cnt 分三桶。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pre_cnt==0 的源头任务直接入 ready，painter 一启动就有活干。pre_cnt==1 的任务进 near_ready——这是 src/ 独有的优化，只差一个前驱，最后那个前驱完成时直接从 near_ready 命中，少一次在全量队列里的查找。pre_cnt 大于 1 的任务先沉睡，不占队列空间。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同时 total_task_state 被置 1，标记"这个任务已经被入队过了"，运行期不会重复塞。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 src/ 解依赖的核心循环，四件事按顺序做。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第一，用 CSR 边表索引定位这个完成任务的所有后继。第二，先查 total_task_state，如果后继已经入队过，直接跳过——这是去重。第三，对后继的 total_pre_cnt 做一次普通的自减，不是 atomic——能这么干是因为这份边表和计数器是当前 painter 的私有副本。第四，计数器减到 0 的后继先塞到按 type 分好的 rq_buf 缓冲区，最后 send_2_ready_queue 一次性批量入队，把拿锁次数从 N 次压到 1 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这一页解释 src/ 最容易被忽略的设计点：为什么自减不需要原子。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completed_queue 是多读者环形队列，每个 painter 用自己的 read_pos 独立推进，所以每完成一个任务会被所有 painter 读到——这是广播。但每个 painter 手里的 test_graph[tid] 只包含属于它那个子图的边。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结果就是：painter 0 看到完成事件后只去减子图 0 后继的计数器；painter 1 只减子图 1 的。任何一个后继任务的计数器，永远只被归属它的那个 painter 写。没有竞争，自然不需要 atomic。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这一页把 case 里的实际分片规则摆出来。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864 个任务，layer_size=16，意味着每个 transformer layer 在 decode 阶段并行跑 16 个算子。相邻两个 layer 共 32 个任务。分片规则就是：每 32 个任务一组，前 16 个给 sg0，后 16 个给 sg1。写成代码就是 task_id 模 32 小于 16 给 sg0，否则给 sg1。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这样两个 painter 在任何时刻都在跑相邻的两层，不会出现一个 painter 忙死另一个闲着。每个子图 432 个任务，约 14 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这一页是整个 src/ 解依赖最精妙的地方，之前容易看错。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不是把任务分给两个 painter，而是把边按"后继归属"切开。任务 X 完成后，它的后继可能跨两个子图：Y0 归 sg0，Y1 归 sg1。X→Y0 这条边只在 sg0_suc[X] 里，X→Y1 只在 sg1_suc[X] 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两个 painter 都读到了完成事件 X，但 painter 0 走 sg0 的边表只看到 Y0，减 Y0 的计数器；painter 1 走 sg1 的边表只看到 Y1，减 Y1 的计数器。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关键推论：Y0 的计数器，无论它的前驱来自哪个子图，都只被 painter 0 写——因为所有指向 Y0 的边都只存在于 sg0_suc 里。这才是 total_pre_cnt 可以全局共享、却用普通 int 自减不需要原子的真正原因。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这一页讲 painter 主循环里怎么消费完成队列。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三步：read_batch 用自己的 read_pos 一次性 peek 最多 512 个完成任务，不做拷贝；resolve_dep 走边表减计数器、攒 ready 缓冲区；read_commit 推进 read_pos。这个环是多读者的——每个 painter 一个 read_pos，dispatcher 写端加锁串行，但读者之间不竞争。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终止判定也做了简化：只有 tid==0 的 painter 累计完成数，到总数就置全局 done 标志。其他 painter 不管这事，避免了一个计数器被多线程原子累加。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src2 走的是另一个极端：一个 scheduler 线程串行处理所有完成事件。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边表整张 DAG 只存一份，计数器用 atomic。完成队列按 cluster 分桶，scheduler 按 cluster 范围扫。后继任务被推到哪个 ready 队列也有讲究——下一页讲。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src2 的 resolve_dep 更短，但有两个关键设计。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第一，atomic_fetch_sub 返回旧值，只有旧值是 1 的那次调用才说明"我是最后一个前驱"——天然解决去重，不需要额外的状态位图。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第二，也是最容易看漏的：queue_push_by_cluster 的 cluster_id 参数，传的是刚完成的那个任务运行所在的 cluster，不是后继任务 s 自己的归属 cluster。这样后继一入队就落在数据还热的那个 cluster 的 ready 队列里，减少跨 cluster 取任务的开销。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代价是单任务粒度入队，没有批量攒批；单线程下这无所谓。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这张表把两套实现解依赖的十个关键维度并排列出来。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左列 src/ 是"用空间换时间"：每 painter 一份边表副本，换来了非原子自减和批量入队，加上 near_ready 半就绪优化。右列 src2/ 是"用原子换简单"：边表只存一份，计数器走 atomic，入队时做 cluster 亲和利用 cache 热度。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没有绝对优劣，是两种工程权衡。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这两套实现不是谁取代谁，是两种工程取舍。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src/ 适合 painter 数固定且少、DAG 能静态切、内存宽裕、追求低尾延迟的场景。它用内存换来了非原子自减和批量入队，加上 near_ready 半就绪优化。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src2/ 适合 DAG 太大不能复制、cluster 局部性重要、要实现简单可扩展的场景。它用原子指令换来了单份边表和自然的 cluster 亲和。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选哪个取决于你具体的硬件规模和 DAG 形态。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总结成三句话。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第一，计数器谁写决定了要不要原子——分片让每个后继只被一个线程写，就省掉了原子指令。第二，入队去哪决定了 cache 命中——全局 type 队列简单，按 cluster 亲和入队能利用数据热度，但要选对亲和键。第三，多线程必须批量摊锁开销，near_ready 这种预入队机制能压尾延迟。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这三件事在两套实现里做了不同取舍，但目标一致：把"完成一个任务"到"后继开始跑"之间的开销压到最低。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D282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2969" flipH="false" flipV="false">
            <a:off x="1016040" y="1898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3" id="3"/>
          <p:cNvSpPr/>
          <p:nvPr/>
        </p:nvSpPr>
        <p:spPr>
          <a:xfrm rot="0" flipH="false" flipV="false">
            <a:off x="1016000" y="2095500"/>
            <a:ext cx="762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Scheduler · 依赖解析专题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667000"/>
            <a:ext cx="1041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5833"/>
              </a:lnSpc>
              <a:defRPr/>
            </a:pPr>
            <a:r>
              <a:rPr lang="en-US" b="true" i="false" strike="noStrike" u="none" sz="46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DAG 解依赖：从分片并行到原子亲和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191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CDBFA9"/>
                </a:solidFill>
                <a:latin typeface="Noto Sans SC"/>
                <a:ea typeface="Noto Sans SC"/>
                <a:cs typeface="Noto Sans SC"/>
                <a:sym typeface="Noto Sans SC"/>
              </a:rPr>
              <a:t>逐行剖析 src/painter.c 与 src2/scheduler.c 如何把完成事件推进成后继就绪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297" flipH="false" flipV="false">
            <a:off x="1016004" y="558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57785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painter.c · resolve_dep() · scheduler.c · fetch_sub()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0" y="57785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2026-09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842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THE PROBLEM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914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解依赖 = 前置计数器归零即就绪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842000" cy="4572000"/>
          </a:xfrm>
          <a:prstGeom prst="roundRect">
            <a:avLst>
              <a:gd name="adj" fmla="val 0"/>
            </a:avLst>
          </a:prstGeom>
          <a:solidFill>
            <a:srgbClr val="0D2825">
              <a:alpha val="4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30400"/>
            <a:ext cx="533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样例 DAG：5 个任务的前置计数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3118360" flipH="false" flipV="false">
            <a:off x="1452890" y="3505232"/>
            <a:ext cx="100586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7" id="7"/>
          <p:cNvCxnSpPr/>
          <p:nvPr/>
        </p:nvCxnSpPr>
        <p:spPr>
          <a:xfrm rot="7298674" flipH="false" flipV="false">
            <a:off x="2218504" y="3505236"/>
            <a:ext cx="94774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8" id="8"/>
          <p:cNvCxnSpPr/>
          <p:nvPr/>
        </p:nvCxnSpPr>
        <p:spPr>
          <a:xfrm rot="1497411" flipH="false" flipV="false">
            <a:off x="1624562" y="3505209"/>
            <a:ext cx="18690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name="Connector 9" id="9"/>
          <p:cNvCxnSpPr/>
          <p:nvPr/>
        </p:nvCxnSpPr>
        <p:spPr>
          <a:xfrm rot="3585087" flipH="false" flipV="false">
            <a:off x="2226933" y="4857798"/>
            <a:ext cx="72778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270000" y="2540000"/>
            <a:ext cx="762000" cy="508000"/>
          </a:xfrm>
          <a:prstGeom prst="ellipse">
            <a:avLst/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70000" y="26416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A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43000" y="3149600"/>
            <a:ext cx="1016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pre=0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540000" y="2540000"/>
            <a:ext cx="762000" cy="508000"/>
          </a:xfrm>
          <a:prstGeom prst="ellipse">
            <a:avLst/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540000" y="26416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B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413000" y="3149600"/>
            <a:ext cx="1016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pre=0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905000" y="3937000"/>
            <a:ext cx="762000" cy="508000"/>
          </a:xfrm>
          <a:prstGeom prst="ellipse">
            <a:avLst/>
          </a:prstGeom>
          <a:solidFill>
            <a:srgbClr val="7D927E">
              <a:alpha val="50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905000" y="40386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C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778000" y="4546600"/>
            <a:ext cx="1016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pre=2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175000" y="3937000"/>
            <a:ext cx="762000" cy="508000"/>
          </a:xfrm>
          <a:prstGeom prst="ellipse">
            <a:avLst/>
          </a:prstGeom>
          <a:solidFill>
            <a:srgbClr val="7D927E">
              <a:alpha val="50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175000" y="40386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E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048000" y="4546600"/>
            <a:ext cx="1016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pre=1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2540000" y="5207000"/>
            <a:ext cx="762000" cy="508000"/>
          </a:xfrm>
          <a:prstGeom prst="ellipse">
            <a:avLst/>
          </a:prstGeom>
          <a:solidFill>
            <a:srgbClr val="7D927E">
              <a:alpha val="50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2540000" y="5308600"/>
            <a:ext cx="76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D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2413000" y="5816600"/>
            <a:ext cx="1016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pre=1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112000" y="1778000"/>
            <a:ext cx="431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数据三件套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10110" flipH="false" flipV="false">
            <a:off x="7112009" y="2152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7112000" y="23495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① 边表（CSR 格式）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suc_cnt[task]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b="false" i="false" strike="noStrike" u="none" sz="11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suc_idx[task]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 定位 + </a:t>
            </a:r>
            <a:r>
              <a:rPr lang="en-US" b="false" i="false" strike="noStrike" u="none" sz="11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successors[]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 扁平存储</a:t>
            </a:r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112000" y="34925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② 前置计数器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每个任务一个 </a:t>
            </a:r>
            <a:r>
              <a:rPr lang="en-US" b="false" i="false" strike="noStrike" u="none" sz="11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pre_cnt[task]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，初始为真实前驱数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112000" y="4635500"/>
            <a:ext cx="431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③ 就绪判定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每完成一个前驱就对后继的 </a:t>
            </a:r>
            <a:r>
              <a:rPr lang="en-US" b="false" i="false" strike="noStrike" u="none" sz="11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pre_cnt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 减一；减到 0 的瞬间，后继入 ready 队列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842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DATA LAYOUT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914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边表怎么放：分片私有副本 vs 全局扁平数组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4699000"/>
          </a:xfrm>
          <a:prstGeom prst="roundRect">
            <a:avLst>
              <a:gd name="adj" fmla="val 0"/>
            </a:avLst>
          </a:prstGeom>
          <a:solidFill>
            <a:srgbClr val="0D2825">
              <a:alpha val="4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5207000" cy="457200"/>
          </a:xfrm>
          <a:prstGeom prst="roundRect">
            <a:avLst>
              <a:gd name="adj" fmla="val 0"/>
            </a:avLst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8542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src/ struct subgraph test_graph[PAINTER_CNT]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476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每个 painter 持有</a:t>
            </a:r>
            <a:r>
              <a:rPr lang="en-US" b="tru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自己那一份子图的边表与计数器副本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365500"/>
            <a:ext cx="4699000" cy="736600"/>
          </a:xfrm>
          <a:prstGeom prst="roundRect">
            <a:avLst>
              <a:gd name="adj" fmla="val 0"/>
            </a:avLst>
          </a:prstGeom>
          <a:solidFill>
            <a:srgbClr val="7D927E">
              <a:alpha val="1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68400" y="3454400"/>
            <a:ext cx="43942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struct subgraph { int* suc_cnt; int* suc_idx;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int* successors; int* total_pre_cnt; }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292600"/>
            <a:ext cx="4699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内存布局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：N_painter 份边表，按 tid 索引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计数器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b="false" i="false" strike="noStrike" u="none" sz="11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int total_pre_cnt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，非原子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分片依据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：case 把 DAG 切成 2 个交织子图，每 painter 负责一片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去重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：另配 </a:t>
            </a:r>
            <a:r>
              <a:rPr lang="en-US" b="false" i="false" strike="noStrike" u="none" sz="11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total_task_state[]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 位图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1778000"/>
            <a:ext cx="5207000" cy="4699000"/>
          </a:xfrm>
          <a:prstGeom prst="roundRect">
            <a:avLst>
              <a:gd name="adj" fmla="val 0"/>
            </a:avLst>
          </a:prstGeom>
          <a:solidFill>
            <a:srgbClr val="0D2825">
              <a:alpha val="4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1778000"/>
            <a:ext cx="5207000" cy="457200"/>
          </a:xfrm>
          <a:prstGeom prst="roundRect">
            <a:avLst>
              <a:gd name="adj" fmla="val 0"/>
            </a:avLst>
          </a:prstGeom>
          <a:solidFill>
            <a:srgbClr val="7D927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77000" y="1854200"/>
            <a:ext cx="469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src2/ 全局扁平数组（无分片）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2476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整张 DAG 只有</a:t>
            </a:r>
            <a:r>
              <a:rPr lang="en-US" b="tru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一份边表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，所有 scheduler 线程共享：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3365500"/>
            <a:ext cx="4699000" cy="736600"/>
          </a:xfrm>
          <a:prstGeom prst="roundRect">
            <a:avLst>
              <a:gd name="adj" fmla="val 0"/>
            </a:avLst>
          </a:prstGeom>
          <a:solidFill>
            <a:srgbClr val="7D927E">
              <a:alpha val="1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29400" y="3454400"/>
            <a:ext cx="43942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task_suc_cnt[] / task_suc_idx[]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0D2825"/>
                </a:solidFill>
                <a:latin typeface="Roboto Mono"/>
                <a:ea typeface="Roboto Mono"/>
                <a:cs typeface="Roboto Mono"/>
                <a:sym typeface="Roboto Mono"/>
              </a:rPr>
              <a:t>task_successors[] / task_pre_cnt[] _Atomic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4292600"/>
            <a:ext cx="4699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内存布局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：单份边表，扁平连续存储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计数器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b="false" i="false" strike="noStrike" u="none" sz="11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_Atomic task_pre_cnt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分片依据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：按 cluster 分桶完成队列，而非子图</a:t>
            </a:r>
          </a:p>
          <a:p>
            <a:pPr algn="l" marL="0" indent="0">
              <a:lnSpc>
                <a:spcPct val="141666"/>
              </a:lnSpc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去重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：fetch_sub 返回值==1 天然唯一 winner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842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SRC/ · INIT_QUEUE()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914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启动时分三桶：ready / near_ready / 沉睡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4826000" cy="4699000"/>
          </a:xfrm>
          <a:prstGeom prst="roundRect">
            <a:avLst>
              <a:gd name="adj" fmla="val 0"/>
            </a:avLst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68500"/>
            <a:ext cx="4318000" cy="444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100">
                <a:solidFill>
                  <a:srgbClr val="CDBFA9"/>
                </a:solidFill>
                <a:latin typeface="Roboto Mono"/>
                <a:ea typeface="Roboto Mono"/>
                <a:cs typeface="Roboto Mono"/>
                <a:sym typeface="Roboto Mono"/>
              </a:rPr>
              <a:t>for tid in 0..PAINTER_CNT:</a:t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CDBFA9"/>
                </a:solidFill>
                <a:latin typeface="Roboto Mono"/>
                <a:ea typeface="Roboto Mono"/>
                <a:cs typeface="Roboto Mono"/>
                <a:sym typeface="Roboto Mono"/>
              </a:rPr>
              <a:t>for t in 0..total_task_cnt: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CDBFA9"/>
                </a:solidFill>
                <a:latin typeface="Roboto Mono"/>
                <a:ea typeface="Roboto Mono"/>
                <a:cs typeface="Roboto Mono"/>
                <a:sym typeface="Roboto Mono"/>
              </a:rPr>
              <a:t>c = test_graph[tid].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CDBFA9"/>
                </a:solidFill>
                <a:latin typeface="Roboto Mono"/>
                <a:ea typeface="Roboto Mono"/>
                <a:cs typeface="Roboto Mono"/>
                <a:sym typeface="Roboto Mono"/>
              </a:rPr>
              <a:t>total_pre_cnt[t];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CDBFA9"/>
                </a:solidFill>
                <a:latin typeface="Roboto Mono"/>
                <a:ea typeface="Roboto Mono"/>
                <a:cs typeface="Roboto Mono"/>
                <a:sym typeface="Roboto Mono"/>
              </a:rPr>
              <a:t>if c == 0: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CDBFA9"/>
                </a:solidFill>
                <a:latin typeface="Roboto Mono"/>
                <a:ea typeface="Roboto Mono"/>
                <a:cs typeface="Roboto Mono"/>
                <a:sym typeface="Roboto Mono"/>
              </a:rPr>
              <a:t>ready_queue[type].push(t);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CDBFA9"/>
                </a:solidFill>
                <a:latin typeface="Roboto Mono"/>
                <a:ea typeface="Roboto Mono"/>
                <a:cs typeface="Roboto Mono"/>
                <a:sym typeface="Roboto Mono"/>
              </a:rPr>
              <a:t>mark_enqueued(t); // =1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CDBFA9"/>
                </a:solidFill>
                <a:latin typeface="Roboto Mono"/>
                <a:ea typeface="Roboto Mono"/>
                <a:cs typeface="Roboto Mono"/>
                <a:sym typeface="Roboto Mono"/>
              </a:rPr>
              <a:t>elif c == 1: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CDBFA9"/>
                </a:solidFill>
                <a:latin typeface="Roboto Mono"/>
                <a:ea typeface="Roboto Mono"/>
                <a:cs typeface="Roboto Mono"/>
                <a:sym typeface="Roboto Mono"/>
              </a:rPr>
              <a:t>near_ready.push(t);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CDBFA9"/>
                </a:solidFill>
                <a:latin typeface="Roboto Mono"/>
                <a:ea typeface="Roboto Mono"/>
                <a:cs typeface="Roboto Mono"/>
                <a:sym typeface="Roboto Mono"/>
              </a:rPr>
              <a:t>mark_enqueued(t);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CDBFA9"/>
                </a:solidFill>
                <a:latin typeface="Roboto Mono"/>
                <a:ea typeface="Roboto Mono"/>
                <a:cs typeface="Roboto Mono"/>
                <a:sym typeface="Roboto Mono"/>
              </a:rPr>
              <a:t>else: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CDBFA9"/>
                </a:solidFill>
                <a:latin typeface="Roboto Mono"/>
                <a:ea typeface="Roboto Mono"/>
                <a:cs typeface="Roboto Mono"/>
                <a:sym typeface="Roboto Mono"/>
              </a:rPr>
              <a:t>/* 沉睡，等运行期唤醒 */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969000" y="1778000"/>
            <a:ext cx="5461000" cy="1460500"/>
          </a:xfrm>
          <a:prstGeom prst="roundRect">
            <a:avLst>
              <a:gd name="adj" fmla="val 0"/>
            </a:avLst>
          </a:prstGeom>
          <a:solidFill>
            <a:srgbClr val="0D2825">
              <a:alpha val="6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930400"/>
            <a:ext cx="495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桶 1 · ready_queue （pre_cnt == 0）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23114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源头任务（无任何前驱）直接入队，painter 一启动就能拉到活。按 task_type 分桶。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969000" y="3429000"/>
            <a:ext cx="5461000" cy="1460500"/>
          </a:xfrm>
          <a:prstGeom prst="roundRect">
            <a:avLst>
              <a:gd name="adj" fmla="val 0"/>
            </a:avLst>
          </a:prstGeom>
          <a:solidFill>
            <a:srgbClr val="7D927E">
              <a:alpha val="18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3581400"/>
            <a:ext cx="495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桶 2 · near_ready_queue （pre_cnt == 1）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39624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只差最后一个前驱的任务，提前放"半就绪"队列。最后一个前驱完成时直接命中，少一轮哈希查表。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969000" y="5080000"/>
            <a:ext cx="5461000" cy="1397000"/>
          </a:xfrm>
          <a:prstGeom prst="roundRect">
            <a:avLst>
              <a:gd name="adj" fmla="val 0"/>
            </a:avLst>
          </a:prstGeom>
          <a:solidFill>
            <a:srgbClr val="4F635A">
              <a:alpha val="10000"/>
            </a:srgbClr>
          </a:solidFill>
          <a:ln w="12700" cmpd="sng" cap="flat">
            <a:solidFill>
              <a:srgbClr val="4F635A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5232400"/>
            <a:ext cx="495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桶 3 · 沉睡（pre_cnt &gt; 1）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5613400"/>
            <a:ext cx="495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多前驱任务不进任何队列，等运行期 resolve_dep 把计数器减到 0 才唤醒。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842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SRC/ · RESOLVE_DEP()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914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核心循环：非原子自减 + 批量入队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969000" cy="4826000"/>
          </a:xfrm>
          <a:prstGeom prst="roundRect">
            <a:avLst>
              <a:gd name="adj" fmla="val 0"/>
            </a:avLst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90600" y="1930400"/>
            <a:ext cx="5588000" cy="457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/* 本批完成的 task，从 completed_queue 批量 peek */</a:t>
            </a: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for each tid in completed_batch: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base = g.suc_idx[tid];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n = g.suc_cnt[tid];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for k in 0..n: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s = g.successors[base + k];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if (total_task_state[s] == 1) continue; </a:t>
            </a:r>
            <a:r>
              <a:rPr lang="en-US" b="false" i="false" strike="noStrike" u="none" sz="1100">
                <a:solidFill>
                  <a:srgbClr val="CDBFA9"/>
                </a:solidFill>
                <a:latin typeface="Roboto Mono"/>
                <a:ea typeface="Roboto Mono"/>
                <a:cs typeface="Roboto Mono"/>
                <a:sym typeface="Roboto Mono"/>
              </a:rPr>
              <a:t>// 去重</a:t>
            </a: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g.total_pre_cnt[s] -= 1; </a:t>
            </a:r>
            <a:r>
              <a:rPr lang="en-US" b="false" i="false" strike="noStrike" u="none" sz="1100">
                <a:solidFill>
                  <a:srgbClr val="CDBFA9"/>
                </a:solidFill>
                <a:latin typeface="Roboto Mono"/>
                <a:ea typeface="Roboto Mono"/>
                <a:cs typeface="Roboto Mono"/>
                <a:sym typeface="Roboto Mono"/>
              </a:rPr>
              <a:t>// 非原子</a:t>
            </a: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if (g.total_pre_cnt[s] &lt; 1) {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rq_buf[type_of(s)].push(s);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total_task_state[s] = 1;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send_2_ready_queue(rq_buf); </a:t>
            </a:r>
            <a:r>
              <a:rPr lang="en-US" b="false" i="false" strike="noStrike" u="none" sz="11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// 一次性 batch_enqueue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112000" y="1778000"/>
            <a:ext cx="431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四个关键动作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0110" flipH="false" flipV="false">
            <a:off x="7112009" y="2152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112000" y="2387600"/>
            <a:ext cx="304800" cy="304800"/>
          </a:xfrm>
          <a:prstGeom prst="ellipse">
            <a:avLst/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112000" y="2425700"/>
            <a:ext cx="304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569200" y="2362200"/>
            <a:ext cx="3860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CSR 索引后继区间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suc_idx[tid] .. +suc_cnt[tid]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112000" y="3276600"/>
            <a:ext cx="304800" cy="304800"/>
          </a:xfrm>
          <a:prstGeom prst="ellipse">
            <a:avLst/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112000" y="3314700"/>
            <a:ext cx="304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569200" y="3251200"/>
            <a:ext cx="3860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total_task_state 短路去重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已入队的后继直接 skip，不重复减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112000" y="4165600"/>
            <a:ext cx="304800" cy="304800"/>
          </a:xfrm>
          <a:prstGeom prst="ellipse">
            <a:avLst/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112000" y="4203700"/>
            <a:ext cx="304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569200" y="4140200"/>
            <a:ext cx="3860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非原子自减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total_pre_cnt[s]--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，因为这是 painter 的私有副本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112000" y="5054600"/>
            <a:ext cx="304800" cy="304800"/>
          </a:xfrm>
          <a:prstGeom prst="ellipse">
            <a:avLst/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112000" y="5092700"/>
            <a:ext cx="304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569200" y="5029200"/>
            <a:ext cx="38608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按 type 攒批，一次性入队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先塞 rq_buf 分桶，最后 </a:t>
            </a:r>
            <a:r>
              <a:rPr lang="en-US" b="false" i="false" strike="noStrike" u="none" sz="11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batch_enqueue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，把锁开销摊薄到一批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842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SRC/ · WHY NO ATOMIC? · test_graph[tid]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914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广播完成事件，但按子图分片更新后继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2413000" cy="762000"/>
          </a:xfrm>
          <a:prstGeom prst="roundRect">
            <a:avLst>
              <a:gd name="adj" fmla="val 0"/>
            </a:avLst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1968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dispatcher 写完成事件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5314074" flipH="false" flipV="false">
            <a:off x="1587500" y="27877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762000" y="3048000"/>
            <a:ext cx="2159000" cy="1016000"/>
          </a:xfrm>
          <a:prstGeom prst="roundRect">
            <a:avLst>
              <a:gd name="adj" fmla="val 0"/>
            </a:avLst>
          </a:prstGeom>
          <a:solidFill>
            <a:srgbClr val="7D927E">
              <a:alpha val="20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3200400"/>
            <a:ext cx="190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1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completed_queue</a:t>
            </a:r>
            <a:r>
              <a:rPr lang="en-US" b="false" i="false" strike="noStrike" u="none" sz="11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多读者环形队列</a:t>
            </a:r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每 painter 独立 read_pos</a:t>
            </a:r>
          </a:p>
        </p:txBody>
      </p:sp>
      <p:cxnSp>
        <p:nvCxnSpPr>
          <p:cNvPr name="Connector 9" id="9"/>
          <p:cNvCxnSpPr/>
          <p:nvPr/>
        </p:nvCxnSpPr>
        <p:spPr>
          <a:xfrm rot="5285450" flipH="false" flipV="false">
            <a:off x="1651000" y="42482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0" id="10"/>
          <p:cNvCxnSpPr/>
          <p:nvPr/>
        </p:nvCxnSpPr>
        <p:spPr>
          <a:xfrm rot="-14628" flipH="false" flipV="false">
            <a:off x="1841514" y="44386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1" id="11"/>
          <p:cNvCxnSpPr/>
          <p:nvPr/>
        </p:nvCxnSpPr>
        <p:spPr>
          <a:xfrm rot="5285450" flipH="false" flipV="false">
            <a:off x="4635500" y="46292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12" id="12"/>
          <p:cNvCxnSpPr/>
          <p:nvPr/>
        </p:nvCxnSpPr>
        <p:spPr>
          <a:xfrm rot="-7237" flipH="false" flipV="false">
            <a:off x="1841507" y="4438650"/>
            <a:ext cx="603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13" id="13"/>
          <p:cNvCxnSpPr/>
          <p:nvPr/>
        </p:nvCxnSpPr>
        <p:spPr>
          <a:xfrm rot="5285450" flipH="false" flipV="false">
            <a:off x="7683500" y="46292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3556000" y="4826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0D2825">
              <a:alpha val="6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683000" y="4978400"/>
            <a:ext cx="228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true" i="false" strike="noStrike" u="none" sz="11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painter 0</a:t>
            </a:r>
            <a:r>
              <a:rPr lang="en-US" b="false" i="false" strike="noStrike" u="none" sz="11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test_graph[0] 只含子图 0 的边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只减归属子图 0 的后继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4826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0D2825">
              <a:alpha val="6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731000" y="4978400"/>
            <a:ext cx="228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true" i="false" strike="noStrike" u="none" sz="11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painter 1</a:t>
            </a:r>
            <a:r>
              <a:rPr lang="en-US" b="false" i="false" strike="noStrike" u="none" sz="11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test_graph[1] 只含子图 1 的边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只减归属子图 1 的后继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144000" y="1778000"/>
            <a:ext cx="2286000" cy="4445000"/>
          </a:xfrm>
          <a:prstGeom prst="roundRect">
            <a:avLst>
              <a:gd name="adj" fmla="val 0"/>
            </a:avLst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334500" y="2032000"/>
            <a:ext cx="2032000" cy="406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CDBFA9"/>
                </a:solidFill>
                <a:latin typeface="Noto Sans SC"/>
                <a:ea typeface="Noto Sans SC"/>
                <a:cs typeface="Noto Sans SC"/>
                <a:sym typeface="Noto Sans SC"/>
              </a:rPr>
              <a:t>设计要点</a:t>
            </a: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同一个完成任务被所有 painter 读到（广播）。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但每个 painter 只更新</a:t>
            </a:r>
            <a:r>
              <a:rPr lang="en-US" b="tru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归属自己子图</a:t>
            </a: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的后继。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后继 s 的计数器，永远只被一个 painter 写。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所以 </a:t>
            </a: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total_pre_cnt[s]--</a:t>
            </a: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 是普通 int，不需要原子。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842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SRC/ · CASE BREAKDOWN · LAYER_SIZE=16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914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分片规则：每 32 个任务切一对相邻层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6858000" cy="4699000"/>
          </a:xfrm>
          <a:prstGeom prst="roundRect">
            <a:avLst>
              <a:gd name="adj" fmla="val 0"/>
            </a:avLst>
          </a:prstGeom>
          <a:solidFill>
            <a:srgbClr val="0D2825">
              <a:alpha val="4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685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task_id 全局视角（共 864 = 27 层 × 32）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476500"/>
            <a:ext cx="3048000" cy="635000"/>
          </a:xfrm>
          <a:prstGeom prst="roundRect">
            <a:avLst>
              <a:gd name="adj" fmla="val 0"/>
            </a:avLst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603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task 0..15 </a:t>
            </a: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→ sg0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191000" y="2476500"/>
            <a:ext cx="3048000" cy="635000"/>
          </a:xfrm>
          <a:prstGeom prst="roundRect">
            <a:avLst>
              <a:gd name="adj" fmla="val 0"/>
            </a:avLst>
          </a:prstGeom>
          <a:solidFill>
            <a:srgbClr val="7D927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191000" y="2603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task 16..31 </a:t>
            </a: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→ sg1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302000"/>
            <a:ext cx="3048000" cy="635000"/>
          </a:xfrm>
          <a:prstGeom prst="roundRect">
            <a:avLst>
              <a:gd name="adj" fmla="val 0"/>
            </a:avLst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429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task 32..47 </a:t>
            </a: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→ sg0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191000" y="3302000"/>
            <a:ext cx="3048000" cy="635000"/>
          </a:xfrm>
          <a:prstGeom prst="roundRect">
            <a:avLst>
              <a:gd name="adj" fmla="val 0"/>
            </a:avLst>
          </a:prstGeom>
          <a:solidFill>
            <a:srgbClr val="7D927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191000" y="3429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task 48..63 </a:t>
            </a: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→ sg1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4127500"/>
            <a:ext cx="3048000" cy="635000"/>
          </a:xfrm>
          <a:prstGeom prst="roundRect">
            <a:avLst>
              <a:gd name="adj" fmla="val 0"/>
            </a:avLst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254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task 64..79 </a:t>
            </a: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→ sg0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191000" y="4127500"/>
            <a:ext cx="3048000" cy="635000"/>
          </a:xfrm>
          <a:prstGeom prst="roundRect">
            <a:avLst>
              <a:gd name="adj" fmla="val 0"/>
            </a:avLst>
          </a:prstGeom>
          <a:solidFill>
            <a:srgbClr val="7D927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191000" y="4254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task 80..95 </a:t>
            </a: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→ sg1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5080000"/>
            <a:ext cx="622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规则：</a:t>
            </a:r>
            <a:r>
              <a:rPr lang="en-US" b="false" i="false" strike="noStrike" u="none" sz="11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task_id % 32 &lt; 16 → sg0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  <a:r>
              <a:rPr lang="en-US" b="false" i="false" strike="noStrike" u="none" sz="11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≥ 16 → sg1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即每两个相邻 layer（共 32 个并行算子）按 layer 奇偶切给两个 painter。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001000" y="1778000"/>
            <a:ext cx="3429000" cy="4699000"/>
          </a:xfrm>
          <a:prstGeom prst="roundRect">
            <a:avLst>
              <a:gd name="adj" fmla="val 0"/>
            </a:avLst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55000" y="2032000"/>
            <a:ext cx="2921000" cy="419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true" i="false" strike="noStrike" u="none" sz="1400">
                <a:solidFill>
                  <a:srgbClr val="CDBFA9"/>
                </a:solidFill>
                <a:latin typeface="Noto Sans SC"/>
                <a:ea typeface="Noto Sans SC"/>
                <a:cs typeface="Noto Sans SC"/>
                <a:sym typeface="Noto Sans SC"/>
              </a:rPr>
              <a:t>case 实测数字</a:t>
            </a: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workload: </a:t>
            </a: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qwen3_14b_decode</a:t>
            </a: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总任务: </a:t>
            </a: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864</a:t>
            </a: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layer_size: </a:t>
            </a: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16</a:t>
            </a: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子图数: </a:t>
            </a: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每子图: </a:t>
            </a: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432</a:t>
            </a: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 任务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每子图: </a:t>
            </a: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≈ 14 层</a:t>
            </a: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7D927E"/>
                </a:solidFill>
                <a:latin typeface="Noto Sans SC"/>
                <a:ea typeface="Noto Sans SC"/>
                <a:cs typeface="Noto Sans SC"/>
                <a:sym typeface="Noto Sans SC"/>
              </a:rPr>
              <a:t>注：两个 painter 在任何时刻都跑相邻两层，流水线最平衡。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842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SRC/ · EDGE SPLITTING BY SUCCESSOR OWNER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914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边不是按前驱切，是按后继归属切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14500"/>
            <a:ext cx="6350000" cy="2540000"/>
          </a:xfrm>
          <a:prstGeom prst="roundRect">
            <a:avLst>
              <a:gd name="adj" fmla="val 0"/>
            </a:avLst>
          </a:prstGeom>
          <a:solidFill>
            <a:srgbClr val="0D2825">
              <a:alpha val="4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879600"/>
            <a:ext cx="584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场景：任务 X 完成，后继跨两个子图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302000" y="2540000"/>
            <a:ext cx="1016000" cy="558800"/>
          </a:xfrm>
          <a:prstGeom prst="ellipse">
            <a:avLst/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302000" y="26670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X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70000" y="3556000"/>
            <a:ext cx="1016000" cy="558800"/>
          </a:xfrm>
          <a:prstGeom prst="ellipse">
            <a:avLst/>
          </a:prstGeom>
          <a:solidFill>
            <a:srgbClr val="0D2825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70000" y="36830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Y0 (sg0)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334000" y="3556000"/>
            <a:ext cx="1016000" cy="558800"/>
          </a:xfrm>
          <a:prstGeom prst="ellipse">
            <a:avLst/>
          </a:prstGeom>
          <a:solidFill>
            <a:srgbClr val="7D927E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334000" y="36830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Y1 (sg1)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9770606" flipH="false" flipV="false">
            <a:off x="1998424" y="3321057"/>
            <a:ext cx="159110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D2825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13" id="13"/>
          <p:cNvCxnSpPr/>
          <p:nvPr/>
        </p:nvCxnSpPr>
        <p:spPr>
          <a:xfrm rot="974515" flipH="false" flipV="false">
            <a:off x="4030473" y="3321057"/>
            <a:ext cx="159110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7493000" y="1714500"/>
            <a:ext cx="3937000" cy="2540000"/>
          </a:xfrm>
          <a:prstGeom prst="roundRect">
            <a:avLst>
              <a:gd name="adj" fmla="val 0"/>
            </a:avLst>
          </a:prstGeom>
          <a:solidFill>
            <a:srgbClr val="0D2825">
              <a:alpha val="4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747000" y="1879600"/>
            <a:ext cx="342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边表切片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747000" y="2286000"/>
            <a:ext cx="3429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7500"/>
              </a:lnSpc>
              <a:defRPr/>
            </a:pPr>
            <a:r>
              <a:rPr lang="en-US" b="false" i="false" strike="noStrike" u="none" sz="11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sg0_suc[X] = {Y0}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1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sg1_suc[X] = {Y1}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同一条 X→Y 边，按 Y 归属拆进不同子图的边表。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5085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0D2825">
              <a:alpha val="6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4673600"/>
            <a:ext cx="469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painter 0 读完成事件 X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50546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走 sg0_suc[X]，只看到 Y0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减 </a:t>
            </a:r>
            <a:r>
              <a:rPr lang="en-US" b="false" i="false" strike="noStrike" u="none" sz="11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total_pre_cnt[Y0]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7D927E"/>
                </a:solidFill>
                <a:latin typeface="Noto Sans SC"/>
                <a:ea typeface="Noto Sans SC"/>
                <a:cs typeface="Noto Sans SC"/>
                <a:sym typeface="Noto Sans SC"/>
              </a:rPr>
              <a:t>不碰 Y1，因为 sg0_suc[X] 里没有它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3000" y="45085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7D927E">
              <a:alpha val="15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77000" y="4673600"/>
            <a:ext cx="469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painter 1 读完成事件 X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7000" y="50546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走 sg1_suc[X]，只看到 Y1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减 </a:t>
            </a:r>
            <a:r>
              <a:rPr lang="en-US" b="false" i="false" strike="noStrike" u="none" sz="1100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total_pre_cnt[Y1]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7D927E"/>
                </a:solidFill>
                <a:latin typeface="Noto Sans SC"/>
                <a:ea typeface="Noto Sans SC"/>
                <a:cs typeface="Noto Sans SC"/>
                <a:sym typeface="Noto Sans SC"/>
              </a:rPr>
              <a:t>不碰 Y0，因为 sg1_suc[X] 里没有它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842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SRC/ · DEAL_COMPLETED_QUEUE()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914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多读者环形队列：peek → 处理 → commit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588000" cy="4699000"/>
          </a:xfrm>
          <a:prstGeom prst="roundRect">
            <a:avLst>
              <a:gd name="adj" fmla="val 0"/>
            </a:avLst>
          </a:prstGeom>
          <a:solidFill>
            <a:srgbClr val="0D2825">
              <a:alpha val="4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685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每个 painter 一轮做三件事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540000"/>
            <a:ext cx="355600" cy="355600"/>
          </a:xfrm>
          <a:prstGeom prst="ellipse">
            <a:avLst/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590800"/>
            <a:ext cx="355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524000" y="25146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read_batch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：用本 painter 的 read_pos[tid] 一次性 peek 最多 RQ_BATCH_SIZE 个完成任务，不拷贝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556000"/>
            <a:ext cx="355600" cy="355600"/>
          </a:xfrm>
          <a:prstGeom prst="ellipse">
            <a:avLst/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606800"/>
            <a:ext cx="355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524000" y="35306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resolve_dep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：对这批任务走边表减计数器，攒 ready 缓冲区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572000"/>
            <a:ext cx="355600" cy="355600"/>
          </a:xfrm>
          <a:prstGeom prst="ellipse">
            <a:avLst/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622800"/>
            <a:ext cx="355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524000" y="45466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read_commit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：推进 read_pos，写回 ready 队列；槽位要等所有 painter 读完才可覆写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55880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D927E"/>
                </a:solidFill>
                <a:latin typeface="Noto Sans SC"/>
                <a:ea typeface="Noto Sans SC"/>
                <a:cs typeface="Noto Sans SC"/>
                <a:sym typeface="Noto Sans SC"/>
              </a:rPr>
              <a:t>多读者环：dispatcher 写端加锁串行；读端每个 painter 独立游标，互不竞争。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731000" y="1778000"/>
            <a:ext cx="4699000" cy="2286000"/>
          </a:xfrm>
          <a:prstGeom prst="roundRect">
            <a:avLst>
              <a:gd name="adj" fmla="val 0"/>
            </a:avLst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985000" y="1968500"/>
            <a:ext cx="4191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7500"/>
              </a:lnSpc>
              <a:defRPr/>
            </a:pPr>
            <a:r>
              <a:rPr lang="en-US" b="true" i="false" strike="noStrike" u="none" sz="1200">
                <a:solidFill>
                  <a:srgbClr val="CDBFA9"/>
                </a:solidFill>
                <a:latin typeface="Noto Sans SC"/>
                <a:ea typeface="Noto Sans SC"/>
                <a:cs typeface="Noto Sans SC"/>
                <a:sym typeface="Noto Sans SC"/>
              </a:rPr>
              <a:t>终止判定</a:t>
            </a: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只有 tid == 0 的 painter 在每轮结束时累计 completed_task_cnt，达到 total_task_cnt 就置 g_is_done。</a:t>
            </a:r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2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其他 painter 只循环读自己的 read_pos，不参与计数——避免多线程对一个计数器的原子累加。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731000" y="4318000"/>
            <a:ext cx="4699000" cy="2159000"/>
          </a:xfrm>
          <a:prstGeom prst="roundRect">
            <a:avLst>
              <a:gd name="adj" fmla="val 0"/>
            </a:avLst>
          </a:prstGeom>
          <a:solidFill>
            <a:srgbClr val="7D927E">
              <a:alpha val="18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985000" y="4508500"/>
            <a:ext cx="4191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7500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批量大小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每轮 peek 上限 RQ_BATCH_SIZE = 512，超过则留到下一轮。</a:t>
            </a:r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整批处理完才 commit read_pos，中间不阻塞 dispatcher 写端。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842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SRC2/ · GLOBAL ATOMIC MODEL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914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单 scheduler 串行解依赖，原子计数兜底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969000" cy="4699000"/>
          </a:xfrm>
          <a:prstGeom prst="roundRect">
            <a:avLst>
              <a:gd name="adj" fmla="val 0"/>
            </a:avLst>
          </a:prstGeom>
          <a:solidFill>
            <a:srgbClr val="0D2825">
              <a:alpha val="4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68500"/>
            <a:ext cx="546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数据通路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540000"/>
            <a:ext cx="1651000" cy="635000"/>
          </a:xfrm>
          <a:prstGeom prst="roundRect">
            <a:avLst>
              <a:gd name="adj" fmla="val 0"/>
            </a:avLst>
          </a:prstGeom>
          <a:solidFill>
            <a:srgbClr val="7D927E">
              <a:alpha val="30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692400"/>
            <a:ext cx="1651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AICore 完成任务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175000" y="2349500"/>
            <a:ext cx="3302000" cy="1016000"/>
          </a:xfrm>
          <a:prstGeom prst="roundRect">
            <a:avLst>
              <a:gd name="adj" fmla="val 0"/>
            </a:avLst>
          </a:prstGeom>
          <a:solidFill>
            <a:srgbClr val="7D927E">
              <a:alpha val="15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302000" y="24765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g_cluster_complete_queue[cluster]</a:t>
            </a:r>
            <a:r>
              <a:rPr lang="en-US" b="false" i="false" strike="noStrike" u="none" sz="11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按 cluster 分桶的完成队列</a:t>
            </a:r>
          </a:p>
        </p:txBody>
      </p:sp>
      <p:cxnSp>
        <p:nvCxnSpPr>
          <p:cNvPr name="Connector 10" id="10"/>
          <p:cNvCxnSpPr/>
          <p:nvPr/>
        </p:nvCxnSpPr>
        <p:spPr>
          <a:xfrm rot="-85925" flipH="false" flipV="false">
            <a:off x="2667079" y="2851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2286000" y="4064000"/>
            <a:ext cx="2540000" cy="762000"/>
          </a:xfrm>
          <a:prstGeom prst="roundRect">
            <a:avLst>
              <a:gd name="adj" fmla="val 0"/>
            </a:avLst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286000" y="42164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scheduler 主循环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扫描 cluster 范围 pop</a:t>
            </a:r>
          </a:p>
        </p:txBody>
      </p:sp>
      <p:cxnSp>
        <p:nvCxnSpPr>
          <p:cNvPr name="Connector 13" id="13"/>
          <p:cNvCxnSpPr/>
          <p:nvPr/>
        </p:nvCxnSpPr>
        <p:spPr>
          <a:xfrm rot="5337502" flipH="false" flipV="false">
            <a:off x="4476750" y="3708458"/>
            <a:ext cx="69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2286000" y="5334000"/>
            <a:ext cx="2540000" cy="762000"/>
          </a:xfrm>
          <a:prstGeom prst="roundRect">
            <a:avLst>
              <a:gd name="adj" fmla="val 0"/>
            </a:avLst>
          </a:prstGeom>
          <a:solidFill>
            <a:srgbClr val="7D927E">
              <a:alpha val="30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286000" y="54864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cluster 专属 ready 队列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1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queue_push_by_cluster()</a:t>
            </a:r>
          </a:p>
        </p:txBody>
      </p:sp>
      <p:cxnSp>
        <p:nvCxnSpPr>
          <p:cNvPr name="Connector 16" id="16"/>
          <p:cNvCxnSpPr/>
          <p:nvPr/>
        </p:nvCxnSpPr>
        <p:spPr>
          <a:xfrm rot="5314074" flipH="false" flipV="false">
            <a:off x="3302000" y="50737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7112000" y="1778000"/>
            <a:ext cx="431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三个事实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0110" flipH="false" flipV="false">
            <a:off x="7112009" y="2152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7112000" y="2349500"/>
            <a:ext cx="431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① scheduler 单线程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SCHEDULER_THREAD_CNT = 1，循环 deal_completed_queue(start, end)。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112000" y="3619500"/>
            <a:ext cx="431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② 边表单份，计数器原子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task_suc_cnt / idx / successors 全局共享；task_pre_cnt 用 _Atomic。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112000" y="4889500"/>
            <a:ext cx="431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③ 完成队列按 cluster 分桶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g_cluster_complete_queue[cluster_id]，scheduler 按 cluster 范围扫描，数据局部性好。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842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SRC2/ · RESOLVE_DEP() + AFFINITY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914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fetch_sub 当 winner 判定，亲和入完成任务的 cluster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969000" cy="4826000"/>
          </a:xfrm>
          <a:prstGeom prst="roundRect">
            <a:avLst>
              <a:gd name="adj" fmla="val 0"/>
            </a:avLst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90600" y="1968500"/>
            <a:ext cx="5588000" cy="444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1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/* task_id 是本批 pop 出的完成任务 */</a:t>
            </a: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resolve_dep(task_id, cluster_id):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base = task_suc_idx[task_id];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n = task_suc_cnt[task_id];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for k in 0..n: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s = task_successors[base + k];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old = atomic_fetch_sub(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&amp;task_pre_cnt[s], 1);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if (old == 1) {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queue_push_by_cluster(</a:t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cluster_id, </a:t>
            </a:r>
            <a:r>
              <a:rPr lang="en-US" b="false" i="false" strike="noStrike" u="none" sz="1100">
                <a:solidFill>
                  <a:srgbClr val="CDBFA9"/>
                </a:solidFill>
                <a:latin typeface="Roboto Mono"/>
                <a:ea typeface="Roboto Mono"/>
                <a:cs typeface="Roboto Mono"/>
                <a:sym typeface="Roboto Mono"/>
              </a:rPr>
              <a:t>// 关键：完成任务的 cluster</a:t>
            </a: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type_of(s), s); </a:t>
            </a:r>
            <a:r>
              <a:rPr lang="en-US" b="false" i="false" strike="noStrike" u="none" sz="11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// 不是 s 的归属 cluster</a:t>
            </a: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100">
                <a:solidFill>
                  <a:srgbClr val="F9F7F3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112000" y="1778000"/>
            <a:ext cx="431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为什么这么写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0110" flipH="false" flipV="false">
            <a:off x="7112009" y="2152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112000" y="2413000"/>
            <a:ext cx="304800" cy="304800"/>
          </a:xfrm>
          <a:prstGeom prst="ellipse">
            <a:avLst/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112000" y="2451100"/>
            <a:ext cx="304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569200" y="2387600"/>
            <a:ext cx="38608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fetch_sub 返回值 == 1 即唯一 winner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不需要额外的 total_task_state 位图，最后一个前驱完成时自然只有一个线程返回 1。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112000" y="3657600"/>
            <a:ext cx="304800" cy="304800"/>
          </a:xfrm>
          <a:prstGeom prst="ellipse">
            <a:avLst/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112000" y="3695700"/>
            <a:ext cx="304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569200" y="3632200"/>
            <a:ext cx="38608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亲和入队：用 cluster_id 而非后继归属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后继 s 被推到"刚完成那个前驱所在的 cluster"，利用 cache 热数据，避免跨 cluster 取任务。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112000" y="4902200"/>
            <a:ext cx="304800" cy="304800"/>
          </a:xfrm>
          <a:prstGeom prst="ellipse">
            <a:avLst/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112000" y="4940300"/>
            <a:ext cx="3048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569200" y="4876800"/>
            <a:ext cx="38608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true" i="false" strike="noStrike" u="none" sz="12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无批量、无 near_ready</a:t>
            </a: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2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单任务粒度入队；单线程下没有批量攒批的必要，也没有 src/ 那种半就绪预入队。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842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HEAD-TO-HEAD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914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十维对比：分片并行 vs 原子亲和</a:t>
            </a:r>
            <a:endParaRPr lang="en-US" sz="1100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62000" y="1714500"/>
          <a:ext cx="10668000" cy="482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4191000"/>
                <a:gridCol w="4191000"/>
              </a:tblGrid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9F7F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维度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2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9F7F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src/ 多 painter 分片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25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9F7F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src2/ 单 scheduler 原子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D927E">
                        <a:alpha val="100000"/>
                      </a:srgbClr>
                    </a:solidFill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并行模型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2E32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Painter×N，各自扫完成队列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2E32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Scheduler×1，串行扫 cluster 队列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边表存储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2E32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test_graph[tid]，每 painter 一份子图副本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2E32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全局扁平数组，全 DAG 一份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计数器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2E32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int total_pre_cnt（非原子）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2E32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_Atomic task_pre_cnt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去重机制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2E32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total_task_state[] 位图短路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2E32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fetch_sub 返回值 == 1 唯一 winner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入队目标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2E32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全局 ready_queue[type]，无亲和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2E32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完成任务所在 cluster 的 ready 队列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完成队列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2E32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多读者环，独立 read_pos 广播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2E32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按 cluster 分桶，单读者 pop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批量策略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2E32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每轮 ≤512 个批量读 + 批量入队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2E32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单任务粒度，无攒批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near_ready 优化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2E32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pre_cnt==1 预入半就绪队列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2E32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2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282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终止判定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2E32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仅 tid==0 累计完成数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2E323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scheduler 串行自然判定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9F7F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842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TRADE-OFF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9144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什么时候该选哪种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4699000"/>
          </a:xfrm>
          <a:prstGeom prst="roundRect">
            <a:avLst>
              <a:gd name="adj" fmla="val 0"/>
            </a:avLst>
          </a:prstGeom>
          <a:solidFill>
            <a:srgbClr val="0D2825">
              <a:alpha val="4000"/>
            </a:srgbClr>
          </a:solidFill>
          <a:ln w="12700" cmpd="sng" cap="flat">
            <a:solidFill>
              <a:srgbClr val="0D282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5207000" cy="508000"/>
          </a:xfrm>
          <a:prstGeom prst="roundRect">
            <a:avLst>
              <a:gd name="adj" fmla="val 0"/>
            </a:avLst>
          </a:prstGeom>
          <a:solidFill>
            <a:srgbClr val="0D28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879600"/>
            <a:ext cx="469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选 src/ 分片并行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4699000" cy="381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13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b="false" i="false" strike="noStrike" u="none" sz="13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 Painter 数固定且少（2-4 个）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3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b="false" i="false" strike="noStrike" u="none" sz="13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 DAG 可以静态切成交织子图</a:t>
            </a:r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3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b="false" i="false" strike="noStrike" u="none" sz="13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 内存不敏感，边表复制 N 份可接受</a:t>
            </a:r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3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b="false" i="false" strike="noStrike" u="none" sz="13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 追求低尾延迟（near_ready 命中）</a:t>
            </a:r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3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b="false" i="false" strike="noStrike" u="none" sz="13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 完成事件爆发，需要批量摊薄锁开销</a:t>
            </a:r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300">
                <a:solidFill>
                  <a:srgbClr val="7D927E"/>
                </a:solidFill>
                <a:latin typeface="Noto Sans SC"/>
                <a:ea typeface="Noto Sans SC"/>
                <a:cs typeface="Noto Sans SC"/>
                <a:sym typeface="Noto Sans SC"/>
              </a:rPr>
              <a:t>代价：</a:t>
            </a:r>
            <a:r>
              <a:rPr lang="en-US" b="false" i="false" strike="noStrike" u="none" sz="13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内存 ×N；静态分片不灵活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778000"/>
            <a:ext cx="5207000" cy="4699000"/>
          </a:xfrm>
          <a:prstGeom prst="roundRect">
            <a:avLst>
              <a:gd name="adj" fmla="val 0"/>
            </a:avLst>
          </a:prstGeom>
          <a:solidFill>
            <a:srgbClr val="0D2825">
              <a:alpha val="4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778000"/>
            <a:ext cx="5207000" cy="508000"/>
          </a:xfrm>
          <a:prstGeom prst="roundRect">
            <a:avLst>
              <a:gd name="adj" fmla="val 0"/>
            </a:avLst>
          </a:prstGeom>
          <a:solidFill>
            <a:srgbClr val="7D927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77000" y="1879600"/>
            <a:ext cx="469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选 src2/ 原子亲和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2540000"/>
            <a:ext cx="4699000" cy="381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13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b="false" i="false" strike="noStrike" u="none" sz="13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 DAG 太大，复制边表不划算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3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b="false" i="false" strike="noStrike" u="none" sz="13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 Scheduler 本身不是热点</a:t>
            </a:r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3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b="false" i="false" strike="noStrike" u="none" sz="13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 cluster 数据局部性重要</a:t>
            </a:r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3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b="false" i="false" strike="noStrike" u="none" sz="13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 实现简单，单线程好调试</a:t>
            </a:r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300">
                <a:solidFill>
                  <a:srgbClr val="0D2825"/>
                </a:solidFill>
                <a:latin typeface="Noto Sans SC"/>
                <a:ea typeface="Noto Sans SC"/>
                <a:cs typeface="Noto Sans SC"/>
                <a:sym typeface="Noto Sans SC"/>
              </a:rPr>
              <a:t>·</a:t>
            </a:r>
            <a:r>
              <a:rPr lang="en-US" b="false" i="false" strike="noStrike" u="none" sz="13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 预留多 scheduler 扩展（原子已就绪）</a:t>
            </a:r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300">
                <a:solidFill>
                  <a:srgbClr val="7D927E"/>
                </a:solidFill>
                <a:latin typeface="Noto Sans SC"/>
                <a:ea typeface="Noto Sans SC"/>
                <a:cs typeface="Noto Sans SC"/>
                <a:sym typeface="Noto Sans SC"/>
              </a:rPr>
              <a:t>代价：</a:t>
            </a:r>
            <a:r>
              <a:rPr lang="en-US" b="false" i="false" strike="noStrike" u="none" sz="1300">
                <a:solidFill>
                  <a:srgbClr val="2E3238"/>
                </a:solidFill>
                <a:latin typeface="Noto Sans SC"/>
                <a:ea typeface="Noto Sans SC"/>
                <a:cs typeface="Noto Sans SC"/>
                <a:sym typeface="Noto Sans SC"/>
              </a:rPr>
              <a:t>每减一次走原子指令；无批量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282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2969" flipH="false" flipV="false">
            <a:off x="1016040" y="1263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7D927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3" id="3"/>
          <p:cNvSpPr/>
          <p:nvPr/>
        </p:nvSpPr>
        <p:spPr>
          <a:xfrm rot="0" flipH="false" flipV="false">
            <a:off x="1016000" y="1460500"/>
            <a:ext cx="762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TAKEAWAYS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968500"/>
            <a:ext cx="1041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三件事决定了解依赖的设计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302000"/>
            <a:ext cx="3175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3556000"/>
            <a:ext cx="26670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7500"/>
              </a:lnSpc>
              <a:defRPr/>
            </a:pPr>
            <a:r>
              <a:rPr lang="en-US" b="true" i="false" strike="noStrike" u="none" sz="1500">
                <a:solidFill>
                  <a:srgbClr val="CDBFA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b="false" i="false" strike="noStrike" u="none" sz="13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7500"/>
              </a:lnSpc>
            </a:pPr>
            <a:r>
              <a:rPr lang="en-US" b="true" i="false" strike="noStrike" u="none" sz="13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谁写计数器</a:t>
            </a:r>
            <a:r>
              <a:rPr lang="en-US" b="false" i="false" strike="noStrike" u="none" sz="13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3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分片让每个后继只被一个线程写，就省掉了原子指令；全局共享就必须 atomic。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508500" y="3302000"/>
            <a:ext cx="3175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762500" y="3556000"/>
            <a:ext cx="26670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7500"/>
              </a:lnSpc>
              <a:defRPr/>
            </a:pPr>
            <a:r>
              <a:rPr lang="en-US" b="true" i="false" strike="noStrike" u="none" sz="1500">
                <a:solidFill>
                  <a:srgbClr val="CDBFA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b="false" i="false" strike="noStrike" u="none" sz="13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7500"/>
              </a:lnSpc>
            </a:pPr>
            <a:r>
              <a:rPr lang="en-US" b="true" i="false" strike="noStrike" u="none" sz="13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入队去哪</a:t>
            </a:r>
            <a:r>
              <a:rPr lang="en-US" b="false" i="false" strike="noStrike" u="none" sz="13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3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全局 type 队列简单；按 cluster 亲和入队利用 cache 热，但要选对亲和的归属键。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001000" y="3302000"/>
            <a:ext cx="3175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7D927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255000" y="3556000"/>
            <a:ext cx="26670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7500"/>
              </a:lnSpc>
              <a:defRPr/>
            </a:pPr>
            <a:r>
              <a:rPr lang="en-US" b="true" i="false" strike="noStrike" u="none" sz="1500">
                <a:solidFill>
                  <a:srgbClr val="CDBFA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b="false" i="false" strike="noStrike" u="none" sz="13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7500"/>
              </a:lnSpc>
            </a:pPr>
            <a:r>
              <a:rPr lang="en-US" b="true" i="false" strike="noStrike" u="none" sz="13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批量与预入队</a:t>
            </a:r>
            <a:r>
              <a:rPr lang="en-US" b="false" i="false" strike="noStrike" u="none" sz="13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7500"/>
              </a:lnSpc>
            </a:pPr>
            <a:r>
              <a:rPr lang="en-US" b="false" i="false" strike="noStrike" u="none" sz="1300">
                <a:solidFill>
                  <a:srgbClr val="F9F7F3"/>
                </a:solidFill>
                <a:latin typeface="Noto Sans SC"/>
                <a:ea typeface="Noto Sans SC"/>
                <a:cs typeface="Noto Sans SC"/>
                <a:sym typeface="Noto Sans SC"/>
              </a:rPr>
              <a:t>多线程必须批量摊锁；near_ready 把 pre_cnt==1 的任务提前放好，压尾延迟。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6223000"/>
            <a:ext cx="1041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D927E"/>
                </a:solidFill>
                <a:latin typeface="Roboto Mono"/>
                <a:ea typeface="Roboto Mono"/>
                <a:cs typeface="Roboto Mono"/>
                <a:sym typeface="Roboto Mono"/>
              </a:rPr>
              <a:t>QuteMiao/Scheduler · src/painter.c · src2/scheduler.c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